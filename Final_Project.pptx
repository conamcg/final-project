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7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A4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802FB-13EE-458E-8FC0-A9095845FB02}" v="1" dt="2026-05-09T15:01:40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McGuire" userId="d15e57b46dba49bd" providerId="LiveId" clId="{567FC061-CCD0-471B-9117-C955EF759CD8}"/>
    <pc:docChg chg="custSel modSld">
      <pc:chgData name="Connor McGuire" userId="d15e57b46dba49bd" providerId="LiveId" clId="{567FC061-CCD0-471B-9117-C955EF759CD8}" dt="2026-05-09T15:01:49.617" v="26" actId="20577"/>
      <pc:docMkLst>
        <pc:docMk/>
      </pc:docMkLst>
      <pc:sldChg chg="addSp delSp modSp mod">
        <pc:chgData name="Connor McGuire" userId="d15e57b46dba49bd" providerId="LiveId" clId="{567FC061-CCD0-471B-9117-C955EF759CD8}" dt="2026-05-09T15:01:49.617" v="26" actId="20577"/>
        <pc:sldMkLst>
          <pc:docMk/>
          <pc:sldMk cId="0" sldId="261"/>
        </pc:sldMkLst>
        <pc:spChg chg="del mod">
          <ac:chgData name="Connor McGuire" userId="d15e57b46dba49bd" providerId="LiveId" clId="{567FC061-CCD0-471B-9117-C955EF759CD8}" dt="2026-05-09T15:01:39.859" v="3" actId="478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Connor McGuire" userId="d15e57b46dba49bd" providerId="LiveId" clId="{567FC061-CCD0-471B-9117-C955EF759CD8}" dt="2026-05-09T15:01:49.617" v="26" actId="20577"/>
          <ac:spMkLst>
            <pc:docMk/>
            <pc:sldMk cId="0" sldId="261"/>
            <ac:spMk id="4" creationId="{67F80634-B2A8-F3A5-11D6-D622297F84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Eyebrow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7B8399"/>
                </a:solidFill>
                <a:latin typeface="Calibri" pitchFamily="34" charset="0"/>
              </a:rPr>
              <a:t>GENERATIVE AI  ·  FINAL PROJECT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7772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</a:rPr>
              <a:t>Cell Therapy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</a:rPr>
              <a:t>Ticket Triage</a:t>
            </a:r>
          </a:p>
          <a:p>
            <a:endParaRPr lang="en-US" sz="600" dirty="0">
              <a:solidFill>
                <a:srgbClr val="FF4D6D"/>
              </a:solidFill>
            </a:endParaRPr>
          </a:p>
          <a:p>
            <a:r>
              <a:rPr lang="en-US" sz="2000" dirty="0">
                <a:solidFill>
                  <a:srgbClr val="FF4D6D"/>
                </a:solidFill>
              </a:rPr>
              <a:t>Connor McGuire</a:t>
            </a:r>
          </a:p>
        </p:txBody>
      </p:sp>
      <p:sp>
        <p:nvSpPr>
          <p:cNvPr id="5" name="AccentBar"/>
          <p:cNvSpPr/>
          <p:nvPr/>
        </p:nvSpPr>
        <p:spPr>
          <a:xfrm>
            <a:off x="457200" y="2985516"/>
            <a:ext cx="2011680" cy="73152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6" name="Subtitle"/>
          <p:cNvSpPr/>
          <p:nvPr/>
        </p:nvSpPr>
        <p:spPr>
          <a:xfrm>
            <a:off x="457200" y="3172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B8399"/>
                </a:solidFill>
                <a:latin typeface="Calibri" pitchFamily="34" charset="0"/>
              </a:rPr>
              <a:t>LLM-assisted triage for IT support tickets in cell therapy manufacturing</a:t>
            </a:r>
          </a:p>
        </p:txBody>
      </p:sp>
      <p:sp>
        <p:nvSpPr>
          <p:cNvPr id="16" name="URL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8A"/>
                </a:solidFill>
                <a:latin typeface="Calibri" pitchFamily="34" charset="0"/>
              </a:rPr>
              <a:t>finalproject-connormcguire.streamlit.app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Context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ing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Why does this workflow matter?</a:t>
            </a:r>
          </a:p>
        </p:txBody>
      </p:sp>
      <p:sp>
        <p:nvSpPr>
          <p:cNvPr id="10" name="Card1BG"/>
          <p:cNvSpPr/>
          <p:nvPr/>
        </p:nvSpPr>
        <p:spPr>
          <a:xfrm>
            <a:off x="457200" y="1143000"/>
            <a:ext cx="2743200" cy="3657600"/>
          </a:xfrm>
          <a:prstGeom prst="rect">
            <a:avLst/>
          </a:prstGeom>
          <a:solidFill>
            <a:srgbClr val="13161F"/>
          </a:solidFill>
          <a:ln w="12700">
            <a:solidFill>
              <a:srgbClr val="222840"/>
            </a:solidFill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Card1TopBar"/>
          <p:cNvSpPr/>
          <p:nvPr/>
        </p:nvSpPr>
        <p:spPr>
          <a:xfrm>
            <a:off x="457200" y="1143000"/>
            <a:ext cx="274320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1Label"/>
          <p:cNvSpPr/>
          <p:nvPr/>
        </p:nvSpPr>
        <p:spPr>
          <a:xfrm>
            <a:off x="594360" y="1269648"/>
            <a:ext cx="246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spc="200" dirty="0">
                <a:solidFill>
                  <a:srgbClr val="00D48A"/>
                </a:solidFill>
                <a:latin typeface="Calibri" pitchFamily="34" charset="0"/>
              </a:rPr>
              <a:t>THE COMPANY</a:t>
            </a:r>
          </a:p>
        </p:txBody>
      </p:sp>
      <p:sp>
        <p:nvSpPr>
          <p:cNvPr id="13" name="Card1Text"/>
          <p:cNvSpPr/>
          <p:nvPr/>
        </p:nvSpPr>
        <p:spPr>
          <a:xfrm>
            <a:off x="594360" y="1554480"/>
            <a:ext cx="2469960" cy="31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Cell therapy company manufacturing made-to-order cancer treatments for individual patients.</a:t>
            </a:r>
            <a:endParaRPr lang="en-US" sz="1300" dirty="0"/>
          </a:p>
          <a:p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</a:rPr>
              <a:t>Every therapy is made for one patient.</a:t>
            </a:r>
            <a:endParaRPr lang="en-US" sz="1300" dirty="0"/>
          </a:p>
          <a:p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Delays in manufacturing operations have direct patient consequences.</a:t>
            </a:r>
          </a:p>
        </p:txBody>
      </p:sp>
      <p:sp>
        <p:nvSpPr>
          <p:cNvPr id="20" name="Card2BG"/>
          <p:cNvSpPr/>
          <p:nvPr/>
        </p:nvSpPr>
        <p:spPr>
          <a:xfrm>
            <a:off x="3314400" y="1143000"/>
            <a:ext cx="2743200" cy="3657600"/>
          </a:xfrm>
          <a:prstGeom prst="rect">
            <a:avLst/>
          </a:prstGeom>
          <a:solidFill>
            <a:srgbClr val="13161F"/>
          </a:solidFill>
          <a:ln w="12700">
            <a:solidFill>
              <a:srgbClr val="222840"/>
            </a:solidFill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ard2TopBar"/>
          <p:cNvSpPr/>
          <p:nvPr/>
        </p:nvSpPr>
        <p:spPr>
          <a:xfrm>
            <a:off x="3314400" y="1143000"/>
            <a:ext cx="2743200" cy="54864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2Label"/>
          <p:cNvSpPr/>
          <p:nvPr/>
        </p:nvSpPr>
        <p:spPr>
          <a:xfrm>
            <a:off x="3451560" y="1269648"/>
            <a:ext cx="246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spc="200" dirty="0">
                <a:solidFill>
                  <a:srgbClr val="4C9BE8"/>
                </a:solidFill>
                <a:latin typeface="Calibri" pitchFamily="34" charset="0"/>
              </a:rPr>
              <a:t>THE USER</a:t>
            </a:r>
          </a:p>
        </p:txBody>
      </p:sp>
      <p:sp>
        <p:nvSpPr>
          <p:cNvPr id="23" name="Card2Text"/>
          <p:cNvSpPr/>
          <p:nvPr/>
        </p:nvSpPr>
        <p:spPr>
          <a:xfrm>
            <a:off x="3451560" y="1554480"/>
            <a:ext cx="2469960" cy="31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Senior Business Systems Manager. Bridges business users and contracted IT resources.</a:t>
            </a:r>
            <a:endParaRPr lang="en-US" sz="1300" dirty="0"/>
          </a:p>
          <a:p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IT works tickets in order received. Without intervention, critical issues sit in queue too long.</a:t>
            </a:r>
          </a:p>
        </p:txBody>
      </p:sp>
      <p:sp>
        <p:nvSpPr>
          <p:cNvPr id="30" name="Card3BG"/>
          <p:cNvSpPr/>
          <p:nvPr/>
        </p:nvSpPr>
        <p:spPr>
          <a:xfrm>
            <a:off x="6171600" y="1143000"/>
            <a:ext cx="2743200" cy="3657600"/>
          </a:xfrm>
          <a:prstGeom prst="rect">
            <a:avLst/>
          </a:prstGeom>
          <a:solidFill>
            <a:srgbClr val="13161F"/>
          </a:solidFill>
          <a:ln w="12700">
            <a:solidFill>
              <a:srgbClr val="222840"/>
            </a:solidFill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Card3TopBar"/>
          <p:cNvSpPr/>
          <p:nvPr/>
        </p:nvSpPr>
        <p:spPr>
          <a:xfrm>
            <a:off x="6171600" y="1143000"/>
            <a:ext cx="274320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3Label"/>
          <p:cNvSpPr/>
          <p:nvPr/>
        </p:nvSpPr>
        <p:spPr>
          <a:xfrm>
            <a:off x="6308760" y="1269648"/>
            <a:ext cx="246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spc="200" dirty="0">
                <a:solidFill>
                  <a:srgbClr val="FF4D6D"/>
                </a:solidFill>
                <a:latin typeface="Calibri" pitchFamily="34" charset="0"/>
              </a:rPr>
              <a:t>THE PROBLEM</a:t>
            </a:r>
          </a:p>
        </p:txBody>
      </p:sp>
      <p:sp>
        <p:nvSpPr>
          <p:cNvPr id="33" name="Card3Text"/>
          <p:cNvSpPr/>
          <p:nvPr/>
        </p:nvSpPr>
        <p:spPr>
          <a:xfrm>
            <a:off x="6308760" y="1554480"/>
            <a:ext cx="2469960" cy="31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Manually screening every ticket to flag priority issues needing immediate escalation.</a:t>
            </a:r>
          </a:p>
          <a:p>
            <a:pPr marL="0" indent="0" algn="l">
              <a:buNone/>
            </a:pPr>
            <a:endParaRPr lang="en-US" sz="1300" dirty="0">
              <a:solidFill>
                <a:srgbClr val="E8EAF0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</a:rPr>
              <a:t>Dozens of tickets received per week, so very time consuming.</a:t>
            </a:r>
            <a:endParaRPr lang="en-US" sz="1300" dirty="0"/>
          </a:p>
          <a:p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</a:rPr>
              <a:t>Missed escalations mean serious issues stay open longer — risking patient timelines and manufacturing ops.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F80634-B2A8-F3A5-11D6-D622297F8425}"/>
              </a:ext>
            </a:extLst>
          </p:cNvPr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BUSINESS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goes through the same 6-question rubric independently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508760" cy="822960"/>
          </a:xfrm>
          <a:prstGeom prst="rect">
            <a:avLst/>
          </a:prstGeom>
          <a:solidFill>
            <a:srgbClr val="13161F"/>
          </a:solidFill>
          <a:ln w="25400">
            <a:solidFill>
              <a:srgbClr val="4C9BE8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508760" cy="54864"/>
          </a:xfrm>
          <a:prstGeom prst="rect">
            <a:avLst/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402336" cy="0"/>
          </a:xfrm>
          <a:prstGeom prst="line">
            <a:avLst/>
          </a:prstGeom>
          <a:noFill/>
          <a:ln w="19050">
            <a:solidFill>
              <a:srgbClr val="7B8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93392" y="148132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234440"/>
            <a:ext cx="1508760" cy="822960"/>
          </a:xfrm>
          <a:prstGeom prst="rect">
            <a:avLst/>
          </a:prstGeom>
          <a:solidFill>
            <a:srgbClr val="13161F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920240" y="1234440"/>
            <a:ext cx="150876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920240" y="13258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For Each Rubric Item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402336" cy="0"/>
          </a:xfrm>
          <a:prstGeom prst="line">
            <a:avLst/>
          </a:prstGeom>
          <a:noFill/>
          <a:ln w="19050">
            <a:solidFill>
              <a:srgbClr val="7B8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85032" y="148132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1234440"/>
            <a:ext cx="1508760" cy="822960"/>
          </a:xfrm>
          <a:prstGeom prst="rect">
            <a:avLst/>
          </a:prstGeom>
          <a:solidFill>
            <a:srgbClr val="13161F"/>
          </a:solidFill>
          <a:ln w="2540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611880" y="1234440"/>
            <a:ext cx="1508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611880" y="13258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402336" cy="0"/>
          </a:xfrm>
          <a:prstGeom prst="line">
            <a:avLst/>
          </a:prstGeom>
          <a:noFill/>
          <a:ln w="19050">
            <a:solidFill>
              <a:srgbClr val="7B8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76672" y="148132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234440"/>
            <a:ext cx="1508760" cy="822960"/>
          </a:xfrm>
          <a:prstGeom prst="rect">
            <a:avLst/>
          </a:prstGeom>
          <a:solidFill>
            <a:srgbClr val="13161F"/>
          </a:solidFill>
          <a:ln w="25400">
            <a:solidFill>
              <a:srgbClr val="FF4D6D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303520" y="1234440"/>
            <a:ext cx="150876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03520" y="132588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YES?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645920"/>
            <a:ext cx="402336" cy="0"/>
          </a:xfrm>
          <a:prstGeom prst="line">
            <a:avLst/>
          </a:prstGeom>
          <a:noFill/>
          <a:ln w="19050">
            <a:solidFill>
              <a:srgbClr val="7B8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287768" y="14762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14616" y="1229360"/>
            <a:ext cx="1508760" cy="822960"/>
          </a:xfrm>
          <a:prstGeom prst="rect">
            <a:avLst/>
          </a:prstGeom>
          <a:solidFill>
            <a:srgbClr val="13161F"/>
          </a:solidFill>
          <a:ln w="25400">
            <a:solidFill>
              <a:srgbClr val="FF4D6D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214616" y="1229360"/>
            <a:ext cx="1508760" cy="54864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214616" y="13208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Draft Emails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57900" y="2057400"/>
            <a:ext cx="0" cy="640080"/>
          </a:xfrm>
          <a:prstGeom prst="line">
            <a:avLst/>
          </a:prstGeom>
          <a:noFill/>
          <a:ln w="19050">
            <a:solidFill>
              <a:srgbClr val="7B8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303520" y="2697480"/>
            <a:ext cx="1508760" cy="685800"/>
          </a:xfrm>
          <a:prstGeom prst="rect">
            <a:avLst/>
          </a:prstGeom>
          <a:solidFill>
            <a:srgbClr val="13161F"/>
          </a:solidFill>
          <a:ln w="25400">
            <a:solidFill>
              <a:srgbClr val="00D48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303520" y="2697480"/>
            <a:ext cx="150876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2743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sz="1100" dirty="0"/>
          </a:p>
        </p:txBody>
      </p:sp>
      <p:sp>
        <p:nvSpPr>
          <p:cNvPr id="601" name="YesLabel"/>
          <p:cNvSpPr txBox="1">
            <a:spLocks noGrp="1"/>
          </p:cNvSpPr>
          <p:nvPr/>
        </p:nvSpPr>
        <p:spPr>
          <a:xfrm>
            <a:off x="6786879" y="1399032"/>
            <a:ext cx="457200" cy="237744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US" sz="1000" b="1" dirty="0">
                <a:solidFill>
                  <a:srgbClr val="FF4D6D"/>
                </a:solidFill>
                <a:latin typeface="Calibri"/>
              </a:rPr>
              <a:t>YES</a:t>
            </a:r>
          </a:p>
        </p:txBody>
      </p:sp>
      <p:sp>
        <p:nvSpPr>
          <p:cNvPr id="602" name="NoLabel"/>
          <p:cNvSpPr txBox="1">
            <a:spLocks noGrp="1"/>
          </p:cNvSpPr>
          <p:nvPr/>
        </p:nvSpPr>
        <p:spPr>
          <a:xfrm>
            <a:off x="5698403" y="2250439"/>
            <a:ext cx="365760" cy="237744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lang="en-US" sz="1000" b="1" dirty="0">
                <a:solidFill>
                  <a:srgbClr val="00D48A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">
            <a:extLst>
              <a:ext uri="{FF2B5EF4-FFF2-40B4-BE49-F238E27FC236}">
                <a16:creationId xmlns:a16="http://schemas.microsoft.com/office/drawing/2014/main" id="{9256E521-E07C-2E35-7994-C6F51699E7F3}"/>
              </a:ext>
            </a:extLst>
          </p:cNvPr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BASELINE VS THIS TOOL</a:t>
            </a:r>
            <a:endParaRPr lang="en-US" sz="900" dirty="0"/>
          </a:p>
        </p:txBody>
      </p:sp>
      <p:sp>
        <p:nvSpPr>
          <p:cNvPr id="2" name="Rectangl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What changed and and by how much?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291840" cy="2011680"/>
          </a:xfrm>
          <a:prstGeom prst="rect">
            <a:avLst/>
          </a:prstGeom>
          <a:solidFill>
            <a:srgbClr val="13161F"/>
          </a:solidFill>
          <a:ln w="635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29184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FF4D6D"/>
                </a:solidFill>
              </a:rPr>
              <a:t>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23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B8399"/>
                </a:solidFill>
              </a:rPr>
              <a:t>to triage 15 tickets manually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005840"/>
            <a:ext cx="3291840" cy="2011680"/>
          </a:xfrm>
          <a:prstGeom prst="rect">
            <a:avLst/>
          </a:prstGeom>
          <a:solidFill>
            <a:srgbClr val="13161F"/>
          </a:solidFill>
          <a:ln w="635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32120" y="1005840"/>
            <a:ext cx="3291840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11556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D48A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6304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00D48A"/>
                </a:solidFill>
              </a:rPr>
              <a:t>75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423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7B8399"/>
                </a:solidFill>
              </a:rPr>
              <a:t>same 15 tickets, end to end</a:t>
            </a:r>
          </a:p>
        </p:txBody>
      </p:sp>
      <p:sp>
        <p:nvSpPr>
          <p:cNvPr id="300" name="BigArrow"/>
          <p:cNvSpPr>
            <a:spLocks noGrp="1"/>
          </p:cNvSpPr>
          <p:nvPr/>
        </p:nvSpPr>
        <p:spPr>
          <a:xfrm>
            <a:off x="3730752" y="1572768"/>
            <a:ext cx="1554480" cy="868680"/>
          </a:xfrm>
          <a:prstGeom prst="rightArrow">
            <a:avLst>
              <a:gd name="adj1" fmla="val 40000"/>
              <a:gd name="adj2" fmla="val 40000"/>
            </a:avLst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3611880" y="1115568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0D48A"/>
                </a:solidFill>
              </a:rPr>
              <a:t>97% faster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20040" y="3200400"/>
            <a:ext cx="2194560" cy="347472"/>
          </a:xfrm>
          <a:prstGeom prst="rect">
            <a:avLst/>
          </a:prstGeom>
          <a:solidFill>
            <a:srgbClr val="0D1018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11479" y="324612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7B8399"/>
                </a:solidFill>
              </a:rPr>
              <a:t>Dimension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2514600" y="3200400"/>
            <a:ext cx="3200400" cy="347472"/>
          </a:xfrm>
          <a:prstGeom prst="rect">
            <a:avLst/>
          </a:prstGeom>
          <a:solidFill>
            <a:srgbClr val="0D1018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2606040" y="324612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Manual Baseline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715000" y="3200400"/>
            <a:ext cx="3200400" cy="347472"/>
          </a:xfrm>
          <a:prstGeom prst="rect">
            <a:avLst/>
          </a:prstGeom>
          <a:solidFill>
            <a:srgbClr val="0D1018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5806440" y="3246120"/>
            <a:ext cx="66396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 dirty="0">
                <a:solidFill>
                  <a:srgbClr val="3AA47F"/>
                </a:solidFill>
              </a:rPr>
              <a:t>This Tool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20040" y="3547872"/>
            <a:ext cx="219456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411479" y="36027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B8399"/>
                </a:solidFill>
              </a:rPr>
              <a:t>Rubric consistency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514600" y="3547872"/>
            <a:ext cx="320040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606040" y="3602736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FF4D6D"/>
                </a:solidFill>
              </a:rPr>
              <a:t>From memory and varies by day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715000" y="3547872"/>
            <a:ext cx="320040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5806440" y="3602736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88CCAA"/>
                </a:solidFill>
              </a:rPr>
              <a:t>Same 6 questions every time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20040" y="3895344"/>
            <a:ext cx="219456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411479" y="3950207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B8399"/>
                </a:solidFill>
              </a:rPr>
              <a:t>Email drafting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514600" y="3895344"/>
            <a:ext cx="320040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2606040" y="3950207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4D6D"/>
                </a:solidFill>
              </a:rPr>
              <a:t>~5 min per escalation from scratch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715000" y="3895344"/>
            <a:ext cx="320040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5806440" y="3950207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88CCAA"/>
                </a:solidFill>
              </a:rPr>
              <a:t>Auto-drafted instantly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320040" y="4242816"/>
            <a:ext cx="219456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411479" y="429768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B8399"/>
                </a:solidFill>
              </a:rPr>
              <a:t>Criteria coverage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4242816"/>
            <a:ext cx="320040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606040" y="42976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4D6D"/>
                </a:solidFill>
              </a:rPr>
              <a:t>Risk of skipping under pressure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715000" y="4242816"/>
            <a:ext cx="3200400" cy="347472"/>
          </a:xfrm>
          <a:prstGeom prst="rect">
            <a:avLst/>
          </a:prstGeom>
          <a:solidFill>
            <a:srgbClr val="13161F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5806440" y="42976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8CCAA"/>
                </a:solidFill>
              </a:rPr>
              <a:t>All 6 evaluated every ticket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20040" y="4590288"/>
            <a:ext cx="219456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11479" y="464515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7B8399"/>
                </a:solidFill>
              </a:rPr>
              <a:t>Missed escalations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2514600" y="4590288"/>
            <a:ext cx="320040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2606040" y="4645151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4D6D"/>
                </a:solidFill>
              </a:rPr>
              <a:t>Risk delays patient treatment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5715000" y="4590288"/>
            <a:ext cx="3200400" cy="347472"/>
          </a:xfrm>
          <a:prstGeom prst="rect">
            <a:avLst/>
          </a:prstGeom>
          <a:solidFill>
            <a:srgbClr val="1A1E2A"/>
          </a:solidFill>
          <a:ln w="3810">
            <a:solidFill>
              <a:srgbClr val="22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5806440" y="4645151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8CCAA"/>
                </a:solidFill>
              </a:rPr>
              <a:t>Consistent catch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already loaded. Walk through what the tool found.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1A1E2A"/>
          </a:solidFill>
          <a:ln w="19050">
            <a:solidFill>
              <a:srgbClr val="00D48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finalproject-connormcguire.streamlit.app</a:t>
            </a:r>
            <a:endParaRPr lang="en-US" sz="1600" dirty="0"/>
          </a:p>
        </p:txBody>
      </p:sp>
      <p:sp>
        <p:nvSpPr>
          <p:cNvPr id="1000" name="ConceptSectionTitle"/>
          <p:cNvSpPr txBox="1">
            <a:spLocks noGrp="1"/>
          </p:cNvSpPr>
          <p:nvPr/>
        </p:nvSpPr>
        <p:spPr>
          <a:xfrm>
            <a:off x="365760" y="1828800"/>
            <a:ext cx="8412480" cy="29260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lang="en-US" sz="900" b="1" dirty="0">
                <a:solidFill>
                  <a:srgbClr val="00D48A"/>
                </a:solidFill>
                <a:latin typeface="Calibri"/>
              </a:rPr>
              <a:t>COURSE CONCEPTS COVERED</a:t>
            </a:r>
          </a:p>
        </p:txBody>
      </p:sp>
      <p:sp>
        <p:nvSpPr>
          <p:cNvPr id="1001" name="CB_BG0"/>
          <p:cNvSpPr>
            <a:spLocks noGrp="1"/>
          </p:cNvSpPr>
          <p:nvPr/>
        </p:nvSpPr>
        <p:spPr>
          <a:xfrm>
            <a:off x="228600" y="2240280"/>
            <a:ext cx="1664208" cy="2331720"/>
          </a:xfrm>
          <a:prstGeom prst="rect">
            <a:avLst/>
          </a:prstGeom>
          <a:solidFill>
            <a:srgbClr val="13161F"/>
          </a:solidFill>
          <a:ln w="9525">
            <a:solidFill>
              <a:srgbClr val="9B59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2" name="CB_Bar0"/>
          <p:cNvSpPr>
            <a:spLocks noGrp="1"/>
          </p:cNvSpPr>
          <p:nvPr/>
        </p:nvSpPr>
        <p:spPr>
          <a:xfrm>
            <a:off x="228600" y="2240280"/>
            <a:ext cx="1664208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" name="CB_Title0"/>
          <p:cNvSpPr txBox="1">
            <a:spLocks noGrp="1"/>
          </p:cNvSpPr>
          <p:nvPr/>
        </p:nvSpPr>
        <p:spPr>
          <a:xfrm>
            <a:off x="338328" y="2331720"/>
            <a:ext cx="1481328" cy="50292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1000" b="1" dirty="0">
                <a:solidFill>
                  <a:srgbClr val="9B59B6"/>
                </a:solidFill>
                <a:latin typeface="Calibri"/>
              </a:rPr>
              <a:t>Anatomy of</a:t>
            </a:r>
            <a:br>
              <a:rPr lang="en-US" sz="1000" b="1" dirty="0">
                <a:solidFill>
                  <a:srgbClr val="9B59B6"/>
                </a:solidFill>
                <a:latin typeface="Calibri"/>
              </a:rPr>
            </a:br>
            <a:r>
              <a:rPr lang="en-US" sz="1000" b="1" dirty="0">
                <a:solidFill>
                  <a:srgbClr val="9B59B6"/>
                </a:solidFill>
                <a:latin typeface="Calibri"/>
              </a:rPr>
              <a:t>an LLM Call</a:t>
            </a:r>
          </a:p>
        </p:txBody>
      </p:sp>
      <p:sp>
        <p:nvSpPr>
          <p:cNvPr id="1004" name="CB_Body0"/>
          <p:cNvSpPr txBox="1">
            <a:spLocks noGrp="1"/>
          </p:cNvSpPr>
          <p:nvPr/>
        </p:nvSpPr>
        <p:spPr>
          <a:xfrm>
            <a:off x="338328" y="2898648"/>
            <a:ext cx="1481328" cy="160020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950" dirty="0">
                <a:solidFill>
                  <a:srgbClr val="E8EAF0"/>
                </a:solidFill>
                <a:latin typeface="Calibri"/>
              </a:rPr>
              <a:t>max_tokens=10 forces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YES/NO only. System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prompt sets domain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context every call.</a:t>
            </a:r>
          </a:p>
        </p:txBody>
      </p:sp>
      <p:sp>
        <p:nvSpPr>
          <p:cNvPr id="1005" name="CB_BG1"/>
          <p:cNvSpPr>
            <a:spLocks noGrp="1"/>
          </p:cNvSpPr>
          <p:nvPr/>
        </p:nvSpPr>
        <p:spPr>
          <a:xfrm>
            <a:off x="1961388" y="2240280"/>
            <a:ext cx="1664208" cy="2331720"/>
          </a:xfrm>
          <a:prstGeom prst="rect">
            <a:avLst/>
          </a:prstGeom>
          <a:solidFill>
            <a:srgbClr val="13161F"/>
          </a:solidFill>
          <a:ln w="9525">
            <a:solidFill>
              <a:srgbClr val="4C9B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6" name="CB_Bar1"/>
          <p:cNvSpPr>
            <a:spLocks noGrp="1"/>
          </p:cNvSpPr>
          <p:nvPr/>
        </p:nvSpPr>
        <p:spPr>
          <a:xfrm>
            <a:off x="1961388" y="2240280"/>
            <a:ext cx="1664208" cy="64008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7" name="CB_Title1"/>
          <p:cNvSpPr txBox="1">
            <a:spLocks noGrp="1"/>
          </p:cNvSpPr>
          <p:nvPr/>
        </p:nvSpPr>
        <p:spPr>
          <a:xfrm>
            <a:off x="2071116" y="2331720"/>
            <a:ext cx="1481328" cy="50292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1000" b="1" dirty="0">
                <a:solidFill>
                  <a:srgbClr val="4C9BE8"/>
                </a:solidFill>
                <a:latin typeface="Calibri"/>
              </a:rPr>
              <a:t>Model</a:t>
            </a:r>
            <a:br>
              <a:rPr lang="en-US" sz="1000" b="1" dirty="0">
                <a:solidFill>
                  <a:srgbClr val="4C9BE8"/>
                </a:solidFill>
                <a:latin typeface="Calibri"/>
              </a:rPr>
            </a:br>
            <a:r>
              <a:rPr lang="en-US" sz="1000" b="1" dirty="0">
                <a:solidFill>
                  <a:srgbClr val="4C9BE8"/>
                </a:solidFill>
                <a:latin typeface="Calibri"/>
              </a:rPr>
              <a:t>Selection</a:t>
            </a:r>
          </a:p>
        </p:txBody>
      </p:sp>
      <p:sp>
        <p:nvSpPr>
          <p:cNvPr id="1008" name="CB_Body1"/>
          <p:cNvSpPr txBox="1">
            <a:spLocks noGrp="1"/>
          </p:cNvSpPr>
          <p:nvPr/>
        </p:nvSpPr>
        <p:spPr>
          <a:xfrm>
            <a:off x="2071116" y="2898648"/>
            <a:ext cx="1481328" cy="160020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950" dirty="0">
                <a:solidFill>
                  <a:srgbClr val="E8EAF0"/>
                </a:solidFill>
                <a:latin typeface="Calibri"/>
              </a:rPr>
              <a:t>Haiku over Sonnet.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6 rubric calls/ticket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+1 email if escalated.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Accurate, low cost.</a:t>
            </a:r>
          </a:p>
        </p:txBody>
      </p:sp>
      <p:sp>
        <p:nvSpPr>
          <p:cNvPr id="1009" name="CB_BG2"/>
          <p:cNvSpPr>
            <a:spLocks noGrp="1"/>
          </p:cNvSpPr>
          <p:nvPr/>
        </p:nvSpPr>
        <p:spPr>
          <a:xfrm>
            <a:off x="3694176" y="2240280"/>
            <a:ext cx="1664208" cy="2331720"/>
          </a:xfrm>
          <a:prstGeom prst="rect">
            <a:avLst/>
          </a:prstGeom>
          <a:solidFill>
            <a:srgbClr val="13161F"/>
          </a:solidFill>
          <a:ln w="9525">
            <a:solidFill>
              <a:srgbClr val="00D4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0" name="CB_Bar2"/>
          <p:cNvSpPr>
            <a:spLocks noGrp="1"/>
          </p:cNvSpPr>
          <p:nvPr/>
        </p:nvSpPr>
        <p:spPr>
          <a:xfrm>
            <a:off x="3694176" y="2240280"/>
            <a:ext cx="1664208" cy="640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1" name="CB_Title2"/>
          <p:cNvSpPr txBox="1">
            <a:spLocks noGrp="1"/>
          </p:cNvSpPr>
          <p:nvPr/>
        </p:nvSpPr>
        <p:spPr>
          <a:xfrm>
            <a:off x="3803904" y="2331720"/>
            <a:ext cx="1481328" cy="50292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1000" b="1" dirty="0">
                <a:solidFill>
                  <a:srgbClr val="00D48A"/>
                </a:solidFill>
                <a:latin typeface="Calibri"/>
              </a:rPr>
              <a:t>Context</a:t>
            </a:r>
            <a:br>
              <a:rPr lang="en-US" sz="1000" b="1" dirty="0">
                <a:solidFill>
                  <a:srgbClr val="00D48A"/>
                </a:solidFill>
                <a:latin typeface="Calibri"/>
              </a:rPr>
            </a:br>
            <a:r>
              <a:rPr lang="en-US" sz="1000" b="1" dirty="0">
                <a:solidFill>
                  <a:srgbClr val="00D48A"/>
                </a:solidFill>
                <a:latin typeface="Calibri"/>
              </a:rPr>
              <a:t>Engineering</a:t>
            </a:r>
          </a:p>
        </p:txBody>
      </p:sp>
      <p:sp>
        <p:nvSpPr>
          <p:cNvPr id="1012" name="CB_Body2"/>
          <p:cNvSpPr txBox="1">
            <a:spLocks noGrp="1"/>
          </p:cNvSpPr>
          <p:nvPr/>
        </p:nvSpPr>
        <p:spPr>
          <a:xfrm>
            <a:off x="3803904" y="2898648"/>
            <a:ext cx="1481328" cy="160020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950" dirty="0">
                <a:solidFill>
                  <a:srgbClr val="E8EAF0"/>
                </a:solidFill>
                <a:latin typeface="Calibri"/>
              </a:rPr>
              <a:t>System prompt defines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cell therapy stakes so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model judges tickets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in the right context.</a:t>
            </a:r>
          </a:p>
        </p:txBody>
      </p:sp>
      <p:sp>
        <p:nvSpPr>
          <p:cNvPr id="1013" name="CB_BG3"/>
          <p:cNvSpPr>
            <a:spLocks noGrp="1"/>
          </p:cNvSpPr>
          <p:nvPr/>
        </p:nvSpPr>
        <p:spPr>
          <a:xfrm>
            <a:off x="5426964" y="2240280"/>
            <a:ext cx="1664208" cy="2331720"/>
          </a:xfrm>
          <a:prstGeom prst="rect">
            <a:avLst/>
          </a:prstGeom>
          <a:solidFill>
            <a:srgbClr val="13161F"/>
          </a:solidFill>
          <a:ln w="9525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4" name="CB_Bar3"/>
          <p:cNvSpPr>
            <a:spLocks noGrp="1"/>
          </p:cNvSpPr>
          <p:nvPr/>
        </p:nvSpPr>
        <p:spPr>
          <a:xfrm>
            <a:off x="5426964" y="2240280"/>
            <a:ext cx="166420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5" name="CB_Title3"/>
          <p:cNvSpPr txBox="1">
            <a:spLocks noGrp="1"/>
          </p:cNvSpPr>
          <p:nvPr/>
        </p:nvSpPr>
        <p:spPr>
          <a:xfrm>
            <a:off x="5536692" y="2331720"/>
            <a:ext cx="1481328" cy="50292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1000" b="1" dirty="0">
                <a:solidFill>
                  <a:srgbClr val="F5A623"/>
                </a:solidFill>
                <a:latin typeface="Calibri"/>
              </a:rPr>
              <a:t>Evaluation</a:t>
            </a:r>
            <a:br>
              <a:rPr lang="en-US" sz="1000" b="1" dirty="0">
                <a:solidFill>
                  <a:srgbClr val="F5A623"/>
                </a:solidFill>
                <a:latin typeface="Calibri"/>
              </a:rPr>
            </a:br>
            <a:r>
              <a:rPr lang="en-US" sz="1000" b="1" dirty="0">
                <a:solidFill>
                  <a:srgbClr val="F5A623"/>
                </a:solidFill>
                <a:latin typeface="Calibri"/>
              </a:rPr>
              <a:t>Design</a:t>
            </a:r>
          </a:p>
        </p:txBody>
      </p:sp>
      <p:sp>
        <p:nvSpPr>
          <p:cNvPr id="1016" name="CB_Body3"/>
          <p:cNvSpPr txBox="1">
            <a:spLocks noGrp="1"/>
          </p:cNvSpPr>
          <p:nvPr/>
        </p:nvSpPr>
        <p:spPr>
          <a:xfrm>
            <a:off x="5536692" y="2898648"/>
            <a:ext cx="1481328" cy="160020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950" dirty="0">
                <a:solidFill>
                  <a:srgbClr val="E8EAF0"/>
                </a:solidFill>
                <a:latin typeface="Calibri"/>
              </a:rPr>
              <a:t>Each rubric question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evaluated independently.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No anchoring bias.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15-ticket test set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against manual baseline.</a:t>
            </a:r>
          </a:p>
        </p:txBody>
      </p:sp>
      <p:sp>
        <p:nvSpPr>
          <p:cNvPr id="1017" name="CB_BG4"/>
          <p:cNvSpPr>
            <a:spLocks noGrp="1"/>
          </p:cNvSpPr>
          <p:nvPr/>
        </p:nvSpPr>
        <p:spPr>
          <a:xfrm>
            <a:off x="7159752" y="2240280"/>
            <a:ext cx="1664208" cy="2331720"/>
          </a:xfrm>
          <a:prstGeom prst="rect">
            <a:avLst/>
          </a:prstGeom>
          <a:solidFill>
            <a:srgbClr val="13161F"/>
          </a:solidFill>
          <a:ln w="9525">
            <a:solidFill>
              <a:srgbClr val="FF4D6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8" name="CB_Bar4"/>
          <p:cNvSpPr>
            <a:spLocks noGrp="1"/>
          </p:cNvSpPr>
          <p:nvPr/>
        </p:nvSpPr>
        <p:spPr>
          <a:xfrm>
            <a:off x="7159752" y="2240280"/>
            <a:ext cx="1664208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9" name="CB_Title4"/>
          <p:cNvSpPr txBox="1">
            <a:spLocks noGrp="1"/>
          </p:cNvSpPr>
          <p:nvPr/>
        </p:nvSpPr>
        <p:spPr>
          <a:xfrm>
            <a:off x="7269480" y="2331720"/>
            <a:ext cx="1481328" cy="50292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1000" b="1" dirty="0">
                <a:solidFill>
                  <a:srgbClr val="FF4D6D"/>
                </a:solidFill>
                <a:latin typeface="Calibri"/>
              </a:rPr>
              <a:t>Governance</a:t>
            </a:r>
            <a:br>
              <a:rPr lang="en-US" sz="1000" b="1" dirty="0">
                <a:solidFill>
                  <a:srgbClr val="FF4D6D"/>
                </a:solidFill>
                <a:latin typeface="Calibri"/>
              </a:rPr>
            </a:br>
            <a:r>
              <a:rPr lang="en-US" sz="1000" b="1" dirty="0">
                <a:solidFill>
                  <a:srgbClr val="FF4D6D"/>
                </a:solidFill>
                <a:latin typeface="Calibri"/>
              </a:rPr>
              <a:t>Controls</a:t>
            </a:r>
          </a:p>
        </p:txBody>
      </p:sp>
      <p:sp>
        <p:nvSpPr>
          <p:cNvPr id="1020" name="CB_Body4"/>
          <p:cNvSpPr txBox="1">
            <a:spLocks noGrp="1"/>
          </p:cNvSpPr>
          <p:nvPr/>
        </p:nvSpPr>
        <p:spPr>
          <a:xfrm>
            <a:off x="7269480" y="2898648"/>
            <a:ext cx="1481328" cy="1600200"/>
          </a:xfrm>
          <a:prstGeom prst="rect">
            <a:avLst/>
          </a:prstGeom>
          <a:noFill/>
        </p:spPr>
        <p:txBody>
          <a:bodyPr wrap="square" anchorCtr="0"/>
          <a:lstStyle/>
          <a:p>
            <a:pPr algn="l"/>
            <a:r>
              <a:rPr lang="en-US" sz="950" dirty="0">
                <a:solidFill>
                  <a:srgbClr val="E8EAF0"/>
                </a:solidFill>
                <a:latin typeface="Calibri"/>
              </a:rPr>
              <a:t>No auto-send. Outputs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are recommendations.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Human stays in loop and makes final call on escala-</a:t>
            </a:r>
            <a:br>
              <a:rPr lang="en-US" sz="950" dirty="0">
                <a:solidFill>
                  <a:srgbClr val="E8EAF0"/>
                </a:solidFill>
                <a:latin typeface="Calibri"/>
              </a:rPr>
            </a:br>
            <a:r>
              <a:rPr lang="en-US" sz="950" dirty="0">
                <a:solidFill>
                  <a:srgbClr val="E8EAF0"/>
                </a:solidFill>
                <a:latin typeface="Calibri"/>
              </a:rPr>
              <a:t>tion and email sending.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422</Words>
  <Application>Microsoft Office PowerPoint</Application>
  <PresentationFormat>On-screen Show (16:9)</PresentationFormat>
  <Paragraphs>86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Therapy Ticket Triage</dc:title>
  <dc:subject>PptxGenJS Presentation</dc:subject>
  <dc:creator>PptxGenJS</dc:creator>
  <cp:lastModifiedBy>Connor McGuire</cp:lastModifiedBy>
  <cp:revision>4</cp:revision>
  <dcterms:created xsi:type="dcterms:W3CDTF">2026-05-07T22:55:05Z</dcterms:created>
  <dcterms:modified xsi:type="dcterms:W3CDTF">2026-05-09T15:01:51Z</dcterms:modified>
</cp:coreProperties>
</file>